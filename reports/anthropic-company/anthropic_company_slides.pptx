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Claude를 개발한 회사 Anthropic을 소개합니다. 회사 개요, 핵심 제품, 안전 철학 순서로 살펴보겠습니다.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2021년 설립되었고, 이익뿐 아니라 공익을 함께 추구하는 공익 법인 형태를 택했습니다. 미션의 핵심은 '안전한 AI'입니다.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용도에 따라 Opus, Sonnet, Haiku 세 가지 등급으로 제공됩니다. 일반 사용자는 앱으로, 개발자는 API와 Claude Code로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Anthropic의 차별점은 안전입니다. Constitutional AI로 모델의 행동 원칙을 정하고, 책임 있는 확장 정책(RSP)으로 능력이 커질수록 안전 기준을 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가지만 기억해 주세요. 안전 중심의 회사, 다양한 형태의 Claude, 그리고 신뢰를 위한 연구입니다.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30425"/>
            <a:ext cx="11094415" cy="1470025"/>
          </a:xfrm>
        </p:spPr>
        <p:txBody>
          <a:bodyPr/>
          <a:lstStyle/>
          <a:p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Anthropic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8495" cy="1752600"/>
          </a:xfrm>
        </p:spPr>
        <p:txBody>
          <a:bodyPr/>
          <a:lstStyle/>
          <a:p>
            <a:r>
              <a:rPr sz="2000">
                <a:solidFill>
                  <a:srgbClr val="FFFFFF"/>
                </a:solidFill>
                <a:latin typeface="맑은 고딕"/>
                <a:ea typeface="맑은 고딕"/>
              </a:rPr>
              <a:t>Claude를 만든 AI 안전 연구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703320"/>
            <a:ext cx="944849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48640" y="6446520"/>
            <a:ext cx="11094415" cy="190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415" cy="1143000"/>
          </a:xfrm>
        </p:spPr>
        <p:txBody>
          <a:bodyPr/>
          <a:lstStyle/>
          <a:p>
            <a:r>
              <a:rPr sz="3200" b="1">
                <a:solidFill>
                  <a:srgbClr val="E8772E"/>
                </a:solidFill>
                <a:latin typeface="맑은 고딕"/>
                <a:ea typeface="맑은 고딕"/>
              </a:rPr>
              <a:t>회사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11094415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맑은 고딕"/>
                <a:ea typeface="맑은 고딕"/>
              </a:rPr>
              <a:t>2021년 설립된 AI 안전·연구 기업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595959"/>
                </a:solidFill>
                <a:latin typeface="맑은 고딕"/>
                <a:ea typeface="맑은 고딕"/>
              </a:rPr>
              <a:t>미국 샌프란시스코 본사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맑은 고딕"/>
                <a:ea typeface="맑은 고딕"/>
              </a:rPr>
              <a:t>공동 창업자: 다리오 아모데이(CEO), 다니엘라 아모데이(사장) 등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595959"/>
                </a:solidFill>
                <a:latin typeface="맑은 고딕"/>
                <a:ea typeface="맑은 고딕"/>
              </a:rPr>
              <a:t>OpenAI 출신 연구자들이 중심이 되어 창업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맑은 고딕"/>
                <a:ea typeface="맑은 고딕"/>
              </a:rPr>
              <a:t>공익 법인(Public Benefit Corporation) 형태로 운영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33333"/>
                </a:solidFill>
                <a:latin typeface="맑은 고딕"/>
                <a:ea typeface="맑은 고딕"/>
              </a:rPr>
              <a:t>미션: 안전하고 신뢰할 수 있으며 유익한 AI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맑은 고딕"/>
                <a:ea typeface="맑은 고딕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48640" y="6446520"/>
            <a:ext cx="11094415" cy="190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415" cy="1143000"/>
          </a:xfrm>
        </p:spPr>
        <p:txBody>
          <a:bodyPr/>
          <a:lstStyle/>
          <a:p>
            <a:r>
              <a:rPr sz="3200" b="1">
                <a:solidFill>
                  <a:srgbClr val="E8772E"/>
                </a:solidFill>
                <a:latin typeface="맑은 고딕"/>
                <a:ea typeface="맑은 고딕"/>
              </a:rPr>
              <a:t>핵심 제품: Claude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8452887"/>
              </a:tblGrid>
              <a:tr h="4114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E877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E877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모델 제품군</a:t>
                      </a:r>
                    </a:p>
                  </a:txBody>
                  <a:tcPr anchor="ctr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Opus(최고 성능) · Sonnet(성능·속도 균형) · Haiku(빠르고 경제적)</a:t>
                      </a:r>
                    </a:p>
                  </a:txBody>
                  <a:tcPr anchor="ctr">
                    <a:solidFill>
                      <a:srgbClr val="FDF1E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Claude 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웹 · 데스크톱 · 모바일에서 대화형 AI 비서로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Claude Code</a:t>
                      </a:r>
                    </a:p>
                  </a:txBody>
                  <a:tcPr anchor="ctr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터미널·IDE에서 코드 작성과 수정을 돕는 에이전트형 코딩 도구</a:t>
                      </a:r>
                    </a:p>
                  </a:txBody>
                  <a:tcPr anchor="ctr">
                    <a:solidFill>
                      <a:srgbClr val="FDF1E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Claude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개발자가 자체 서비스에 Claude를 연동 (AWS Bedrock, Google Vertex AI로도 제공)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맑은 고딕"/>
                <a:ea typeface="맑은 고딕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548640" y="6446520"/>
            <a:ext cx="11094415" cy="190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415" cy="1143000"/>
          </a:xfrm>
        </p:spPr>
        <p:txBody>
          <a:bodyPr/>
          <a:lstStyle/>
          <a:p>
            <a:r>
              <a:rPr sz="3200" b="1">
                <a:solidFill>
                  <a:srgbClr val="E8772E"/>
                </a:solidFill>
                <a:latin typeface="맑은 고딕"/>
                <a:ea typeface="맑은 고딕"/>
              </a:rPr>
              <a:t>안전 철학과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64327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8772E"/>
                </a:solidFill>
                <a:latin typeface="맑은 고딕"/>
                <a:ea typeface="맑은 고딕"/>
              </a:rPr>
              <a:t>Constitutional AI · RSP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원칙(헌법)에 따라 AI가 스스로 답변을 점검·개선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사람의 가치를 명시적인 규칙으로 반영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모델 능력 수준에 맞춰 안전 조치를 단계적으로 강화(RSP)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463040"/>
            <a:ext cx="5364327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8772E"/>
                </a:solidFill>
                <a:latin typeface="맑은 고딕"/>
                <a:ea typeface="맑은 고딕"/>
              </a:rPr>
              <a:t>연구와 거버넌스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AI 내부 작동 원리를 해석하는 연구(해석 가능성)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연구 성과와 정책 제안을 외부에 공개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맑은 고딕"/>
                <a:ea typeface="맑은 고딕"/>
              </a:rPr>
              <a:t>장기 공익 신탁(LTBT)으로 지배구조의 안전장치 마련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맑은 고딕"/>
                <a:ea typeface="맑은 고딕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548640" y="6446520"/>
            <a:ext cx="11094415" cy="190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415" cy="1143000"/>
          </a:xfrm>
        </p:spPr>
        <p:txBody>
          <a:bodyPr/>
          <a:lstStyle/>
          <a:p>
            <a:r>
              <a:rPr sz="3200" b="1">
                <a:solidFill>
                  <a:srgbClr val="E8772E"/>
                </a:solidFill>
                <a:latin typeface="맑은 고딕"/>
                <a:ea typeface="맑은 고딕"/>
              </a:rP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11094415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600">
                <a:solidFill>
                  <a:srgbClr val="333333"/>
                </a:solidFill>
                <a:latin typeface="맑은 고딕"/>
                <a:ea typeface="맑은 고딕"/>
              </a:rPr>
              <a:t>Anthropic = '안전'을 최우선으로 하는 AI 연구 기업</a:t>
            </a:r>
          </a:p>
          <a:p>
            <a:pPr>
              <a:spcAft>
                <a:spcPts val="600"/>
              </a:spcAft>
            </a:pPr>
            <a:r>
              <a:rPr sz="2600">
                <a:solidFill>
                  <a:srgbClr val="333333"/>
                </a:solidFill>
                <a:latin typeface="맑은 고딕"/>
                <a:ea typeface="맑은 고딕"/>
              </a:rPr>
              <a:t>Claude: 앱 · Claude Code · API로 개인과 기업 모두 활용</a:t>
            </a:r>
          </a:p>
          <a:p>
            <a:pPr>
              <a:spcAft>
                <a:spcPts val="600"/>
              </a:spcAft>
            </a:pPr>
            <a:r>
              <a:rPr sz="2600">
                <a:solidFill>
                  <a:srgbClr val="333333"/>
                </a:solidFill>
                <a:latin typeface="맑은 고딕"/>
                <a:ea typeface="맑은 고딕"/>
              </a:rPr>
              <a:t>Constitutional AI와 RSP로 신뢰할 수 있는 AI를 추구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3048" y="4846320"/>
            <a:ext cx="4572000" cy="822960"/>
          </a:xfrm>
          <a:prstGeom prst="round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  <a:latin typeface="맑은 고딕"/>
                <a:ea typeface="맑은 고딕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