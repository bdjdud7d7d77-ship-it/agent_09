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전력 사용량</c:v>
                </c:pt>
              </c:strCache>
            </c:strRef>
          </c:tx>
          <c:spPr>
            <a:solidFill>
              <a:srgbClr val="FDE3D3"/>
            </a:solidFill>
          </c:spPr>
          <c:dPt>
            <c:idx val="1"/>
            <c:spPr>
              <a:solidFill>
                <a:srgbClr val="F26B1D"/>
              </a:solidFill>
            </c:spPr>
          </c:dPt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2030E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485</c:v>
                </c:pt>
                <c:pt idx="1">
                  <c:v>950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400" b="1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5E5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666666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발전 현황을 기술, 도입, 투자·에너지, 일자리, 규제, 전망 순서로 살펴봅니다.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1970–90년대 기호주의 AI와 전문가 시스템은 기대에 못 미쳐 두 번의 AI 겨울을 겪었습니다. 2016년 알파고도 대표적 이정표입니다.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Gemini Deep Think는 국제수학올림피아드 금메달을 받았습니다. 반면 아날로그 시계 읽기는 50.1%로, 능력이 과제마다 고르지 않다는 점을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응답자의 79%는 최소 한 개 업무 기능에서 생성형 AI를 쓰고 있습니다. 대학생 5명 중 4명이 생성형 AI를 사용합니다.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미국 민간 AI 투자는 중국의 23배가 넘습니다. IEA는 데이터센터 전력이 2030년 전 세계 수요의 약 3%가 되고, AI 특화 데이터센터 소비는 3배가 될 것으로 봅니다. 작업당 에너지는 매년 크게 줄지만 사용량 증가가 더 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2030년까지 기업의 86%가 AI·정보처리로 변화를 겪을 전망입니다. 2017년 이후 미국으로 유입되는 AI 인재는 89% 줄었습니다.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EU는 일부 고위험 의무의 연기를 제안한 상태입니다. 범용 AI 행동강령에는 20곳 이상이 서명했습니다. 한국 AI 기본법은 해외 사업자에게 국내 대리인 지정 의무도 부과합니다.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정리: 능력은 계속 빠르게 좋아지지만 고르지 않고, 도입은 거의 보편적이지만 대규모로 가치를 내기는 아직 어렵습니다. 에너지·칩·인재가 새 경쟁 병목입니다.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498079" y="0"/>
            <a:ext cx="2011681" cy="1463040"/>
          </a:xfrm>
          <a:prstGeom prst="line">
            <a:avLst/>
          </a:prstGeom>
          <a:ln w="12700">
            <a:solidFill>
              <a:srgbClr val="FDE3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001000" y="0"/>
            <a:ext cx="2011680" cy="1463040"/>
          </a:xfrm>
          <a:prstGeom prst="line">
            <a:avLst/>
          </a:prstGeom>
          <a:ln w="12700">
            <a:solidFill>
              <a:srgbClr val="FDE3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503919" y="0"/>
            <a:ext cx="2011681" cy="1463040"/>
          </a:xfrm>
          <a:prstGeom prst="line">
            <a:avLst/>
          </a:prstGeom>
          <a:ln w="12700">
            <a:solidFill>
              <a:srgbClr val="FDE3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006840" y="0"/>
            <a:ext cx="2011680" cy="1463040"/>
          </a:xfrm>
          <a:prstGeom prst="line">
            <a:avLst/>
          </a:prstGeom>
          <a:ln w="12700">
            <a:solidFill>
              <a:srgbClr val="FDE3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509759" y="0"/>
            <a:ext cx="2011681" cy="1463040"/>
          </a:xfrm>
          <a:prstGeom prst="line">
            <a:avLst/>
          </a:prstGeom>
          <a:ln w="12700">
            <a:solidFill>
              <a:srgbClr val="FDE3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185855" y="3200399"/>
            <a:ext cx="2011680" cy="2011680"/>
          </a:xfrm>
          <a:prstGeom prst="ellipse">
            <a:avLst/>
          </a:prstGeom>
          <a:noFill/>
          <a:ln w="12700">
            <a:solidFill>
              <a:srgbClr val="FDE3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28655" y="2743199"/>
            <a:ext cx="2926080" cy="2926080"/>
          </a:xfrm>
          <a:prstGeom prst="ellipse">
            <a:avLst/>
          </a:prstGeom>
          <a:noFill/>
          <a:ln w="12700">
            <a:solidFill>
              <a:srgbClr val="FDE3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71455" y="2285999"/>
            <a:ext cx="3840480" cy="3840480"/>
          </a:xfrm>
          <a:prstGeom prst="ellipse">
            <a:avLst/>
          </a:prstGeom>
          <a:noFill/>
          <a:ln w="12700">
            <a:solidFill>
              <a:srgbClr val="FDE3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-1828800" y="1097280"/>
            <a:ext cx="6949440" cy="4572000"/>
          </a:xfrm>
          <a:prstGeom prst="roundRect">
            <a:avLst>
              <a:gd name="adj" fmla="val 50000"/>
            </a:avLst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ARTIFICIAL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38404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1" i="1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AI</a:t>
            </a:r>
          </a:p>
          <a:p>
            <a:pPr algn="l">
              <a:lnSpc>
                <a:spcPct val="95000"/>
              </a:lnSpc>
            </a:pPr>
            <a:r>
              <a:rPr sz="4800" b="1" i="1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Technology · Industry · Regulation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0" y="1874519"/>
            <a:ext cx="292608" cy="292608"/>
          </a:xfrm>
          <a:prstGeom prst="ellipse">
            <a:avLst/>
          </a:prstGeom>
          <a:noFill/>
          <a:ln w="38100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2377440"/>
            <a:ext cx="5852160" cy="1737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4800" b="1" i="1">
                <a:solidFill>
                  <a:srgbClr val="222222"/>
                </a:solidFill>
                <a:latin typeface="Pretendard ExtraBold"/>
                <a:ea typeface="Pretendard ExtraBold"/>
                <a:cs typeface="Pretendard ExtraBold"/>
              </a:rPr>
              <a:t>AI 발전,</a:t>
            </a:r>
          </a:p>
          <a:p>
            <a:pPr algn="l">
              <a:lnSpc>
                <a:spcPct val="105000"/>
              </a:lnSpc>
            </a:pPr>
            <a:r>
              <a:rPr sz="4800" b="1" i="1">
                <a:solidFill>
                  <a:srgbClr val="222222"/>
                </a:solidFill>
                <a:latin typeface="Pretendard ExtraBold"/>
                <a:ea typeface="Pretendard ExtraBold"/>
                <a:cs typeface="Pretendard ExtraBold"/>
              </a:rPr>
              <a:t>지금 어디까지 왔나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206240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Stanford AI Index 2026 등 주요 보고서로 본 기술·도입·규제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60807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춘식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72768" y="608076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2026.10.11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960120" cy="274320"/>
          </a:xfrm>
          <a:prstGeom prst="roundRect">
            <a:avLst>
              <a:gd name="adj" fmla="val 25000"/>
            </a:avLst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301752"/>
            <a:ext cx="7863840" cy="4572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0000"/>
              </a:lnSpc>
            </a:pPr>
            <a:r>
              <a:rPr sz="2000" b="1" i="1">
                <a:solidFill>
                  <a:srgbClr val="222222"/>
                </a:solidFill>
                <a:latin typeface="Pretendard ExtraBold"/>
                <a:ea typeface="Pretendard ExtraBold"/>
                <a:cs typeface="Pretendard ExtraBold"/>
              </a:rPr>
              <a:t>70년의 이정표, 2022년 이후 가속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555480" y="530352"/>
            <a:ext cx="731520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424160" y="393192"/>
            <a:ext cx="1307592" cy="274320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 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57200" y="2971800"/>
            <a:ext cx="11274552" cy="0"/>
          </a:xfrm>
          <a:prstGeom prst="line">
            <a:avLst/>
          </a:prstGeom>
          <a:ln w="190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287018" y="2862072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879092" cy="4572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222222"/>
                </a:solidFill>
                <a:latin typeface="Pretendard ExtraBold"/>
                <a:ea typeface="Pretendard ExtraBold"/>
                <a:cs typeface="Pretendard ExtraBold"/>
              </a:rPr>
              <a:t>1956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37560"/>
            <a:ext cx="1696212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다트머스 회의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'AI' 용어 탄생</a:t>
            </a:r>
          </a:p>
        </p:txBody>
      </p:sp>
      <p:sp>
        <p:nvSpPr>
          <p:cNvPr id="11" name="Oval 10"/>
          <p:cNvSpPr/>
          <p:nvPr/>
        </p:nvSpPr>
        <p:spPr>
          <a:xfrm>
            <a:off x="3166110" y="2862072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6292" y="2057400"/>
            <a:ext cx="1879092" cy="4572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222222"/>
                </a:solidFill>
                <a:latin typeface="Pretendard ExtraBold"/>
                <a:ea typeface="Pretendard ExtraBold"/>
                <a:cs typeface="Pretendard ExtraBold"/>
              </a:rPr>
              <a:t>1997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7732" y="3337560"/>
            <a:ext cx="1696212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딥블루, 체스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세계 챔피언 격파</a:t>
            </a:r>
          </a:p>
        </p:txBody>
      </p:sp>
      <p:sp>
        <p:nvSpPr>
          <p:cNvPr id="14" name="Oval 13"/>
          <p:cNvSpPr/>
          <p:nvPr/>
        </p:nvSpPr>
        <p:spPr>
          <a:xfrm>
            <a:off x="5045202" y="2862072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15384" y="2057400"/>
            <a:ext cx="1879092" cy="4572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222222"/>
                </a:solidFill>
                <a:latin typeface="Pretendard ExtraBold"/>
                <a:ea typeface="Pretendard ExtraBold"/>
                <a:cs typeface="Pretendard ExtraBold"/>
              </a:rPr>
              <a:t>2012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6824" y="3337560"/>
            <a:ext cx="1696212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알렉스넷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딥러닝 시대 개막</a:t>
            </a:r>
          </a:p>
        </p:txBody>
      </p:sp>
      <p:sp>
        <p:nvSpPr>
          <p:cNvPr id="17" name="Oval 16"/>
          <p:cNvSpPr/>
          <p:nvPr/>
        </p:nvSpPr>
        <p:spPr>
          <a:xfrm>
            <a:off x="6924294" y="2862072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4476" y="2057400"/>
            <a:ext cx="1879092" cy="4572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222222"/>
                </a:solidFill>
                <a:latin typeface="Pretendard ExtraBold"/>
                <a:ea typeface="Pretendard ExtraBold"/>
                <a:cs typeface="Pretendard ExtraBold"/>
              </a:rPr>
              <a:t>2017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5916" y="3337560"/>
            <a:ext cx="1696212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트랜스포머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구조 등장</a:t>
            </a:r>
          </a:p>
        </p:txBody>
      </p:sp>
      <p:sp>
        <p:nvSpPr>
          <p:cNvPr id="20" name="Oval 19"/>
          <p:cNvSpPr/>
          <p:nvPr/>
        </p:nvSpPr>
        <p:spPr>
          <a:xfrm>
            <a:off x="8766810" y="2825496"/>
            <a:ext cx="292608" cy="292608"/>
          </a:xfrm>
          <a:prstGeom prst="ellipse">
            <a:avLst/>
          </a:prstGeom>
          <a:solidFill>
            <a:srgbClr val="F26B1D"/>
          </a:solidFill>
          <a:ln w="25400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2057400"/>
            <a:ext cx="1879092" cy="4572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D9480F"/>
                </a:solidFill>
                <a:latin typeface="Pretendard ExtraBold"/>
                <a:ea typeface="Pretendard ExtraBold"/>
                <a:cs typeface="Pretendard ExtraBold"/>
              </a:rPr>
              <a:t>2022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3337560"/>
            <a:ext cx="1696212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ChatGPT 출시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생성형 AI 대중화</a:t>
            </a:r>
          </a:p>
        </p:txBody>
      </p:sp>
      <p:sp>
        <p:nvSpPr>
          <p:cNvPr id="23" name="Oval 22"/>
          <p:cNvSpPr/>
          <p:nvPr/>
        </p:nvSpPr>
        <p:spPr>
          <a:xfrm>
            <a:off x="10645902" y="2825496"/>
            <a:ext cx="292608" cy="292608"/>
          </a:xfrm>
          <a:prstGeom prst="ellipse">
            <a:avLst/>
          </a:prstGeom>
          <a:solidFill>
            <a:srgbClr val="F26B1D"/>
          </a:solidFill>
          <a:ln w="25400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52660" y="2057400"/>
            <a:ext cx="1879092" cy="4572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D9480F"/>
                </a:solidFill>
                <a:latin typeface="Pretendard ExtraBold"/>
                <a:ea typeface="Pretendard ExtraBold"/>
                <a:cs typeface="Pretendard ExtraBold"/>
              </a:rPr>
              <a:t>2024–26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4100" y="3337560"/>
            <a:ext cx="1696212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멀티모달·추론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AI 에이전트 확산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074920"/>
            <a:ext cx="960120" cy="566928"/>
          </a:xfrm>
          <a:prstGeom prst="roundRect">
            <a:avLst>
              <a:gd name="adj" fmla="val 15000"/>
            </a:avLst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1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17320" y="5074920"/>
            <a:ext cx="10314432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0" y="5074920"/>
            <a:ext cx="996696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두 번의 'AI 겨울' 이후 딥러닝(2012)과 트랜스포머(2017)가 지금의 생성형 AI를 열었습니다.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382512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출처: research/ai_development_research_v2.md §1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960120" cy="274320"/>
          </a:xfrm>
          <a:prstGeom prst="roundRect">
            <a:avLst>
              <a:gd name="adj" fmla="val 25000"/>
            </a:avLst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301752"/>
            <a:ext cx="7863840" cy="4572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0000"/>
              </a:lnSpc>
            </a:pPr>
            <a:r>
              <a:rPr sz="2000" b="1" i="1">
                <a:solidFill>
                  <a:srgbClr val="222222"/>
                </a:solidFill>
                <a:latin typeface="Pretendard ExtraBold"/>
                <a:ea typeface="Pretendard ExtraBold"/>
                <a:cs typeface="Pretendard ExtraBold"/>
              </a:rPr>
              <a:t>성능은 가속, 그러나 고르지 않다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555480" y="530352"/>
            <a:ext cx="731520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424160" y="393192"/>
            <a:ext cx="1307592" cy="274320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 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nut 6"/>
          <p:cNvSpPr/>
          <p:nvPr/>
        </p:nvSpPr>
        <p:spPr>
          <a:xfrm>
            <a:off x="1536192" y="1440180"/>
            <a:ext cx="1600200" cy="1600200"/>
          </a:xfrm>
          <a:prstGeom prst="donut">
            <a:avLst>
              <a:gd name="adj" fmla="val 3500"/>
            </a:avLst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lock Arc 7"/>
          <p:cNvSpPr/>
          <p:nvPr/>
        </p:nvSpPr>
        <p:spPr>
          <a:xfrm>
            <a:off x="1536192" y="1440180"/>
            <a:ext cx="1600200" cy="1600200"/>
          </a:xfrm>
          <a:prstGeom prst="blockArc">
            <a:avLst>
              <a:gd name="adj1" fmla="val 16200000"/>
              <a:gd name="adj2" fmla="val 15983999"/>
              <a:gd name="adj3" fmla="val 3500"/>
            </a:avLst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4772" y="196596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222222"/>
                </a:solidFill>
                <a:latin typeface="Pretendard ExtraBold"/>
                <a:ea typeface="Pretendard ExtraBold"/>
                <a:cs typeface="Pretendard ExtraBold"/>
              </a:rPr>
              <a:t>~100%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36292" y="3113532"/>
            <a:ext cx="0" cy="310896"/>
          </a:xfrm>
          <a:prstGeom prst="line">
            <a:avLst/>
          </a:prstGeom>
          <a:ln w="12700">
            <a:solidFill>
              <a:srgbClr val="F26B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3520440"/>
            <a:ext cx="348386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SWE-bench Verified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86200"/>
            <a:ext cx="3483864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1년 만에 약 60%에서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거의 100%로 상승</a:t>
            </a:r>
          </a:p>
        </p:txBody>
      </p:sp>
      <p:sp>
        <p:nvSpPr>
          <p:cNvPr id="13" name="Donut 12"/>
          <p:cNvSpPr/>
          <p:nvPr/>
        </p:nvSpPr>
        <p:spPr>
          <a:xfrm>
            <a:off x="5294376" y="1440180"/>
            <a:ext cx="1600200" cy="1600200"/>
          </a:xfrm>
          <a:prstGeom prst="donut">
            <a:avLst>
              <a:gd name="adj" fmla="val 3500"/>
            </a:avLst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lock Arc 13"/>
          <p:cNvSpPr/>
          <p:nvPr/>
        </p:nvSpPr>
        <p:spPr>
          <a:xfrm>
            <a:off x="5294376" y="1440180"/>
            <a:ext cx="1600200" cy="1600200"/>
          </a:xfrm>
          <a:prstGeom prst="blockArc">
            <a:avLst>
              <a:gd name="adj1" fmla="val 16200000"/>
              <a:gd name="adj2" fmla="val 5421600"/>
              <a:gd name="adj3" fmla="val 3500"/>
            </a:avLst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2956" y="196596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222222"/>
                </a:solidFill>
                <a:latin typeface="Pretendard ExtraBold"/>
                <a:ea typeface="Pretendard ExtraBold"/>
                <a:cs typeface="Pretendard ExtraBold"/>
              </a:rPr>
              <a:t>50.1%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4476" y="3113532"/>
            <a:ext cx="0" cy="310896"/>
          </a:xfrm>
          <a:prstGeom prst="line">
            <a:avLst/>
          </a:prstGeom>
          <a:ln w="12700">
            <a:solidFill>
              <a:srgbClr val="F26B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52544" y="3520440"/>
            <a:ext cx="348386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아날로그 시계 읽기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2544" y="3886200"/>
            <a:ext cx="3483864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최상위 모델도 절반만 정답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'들쭉날쭉한 프런티어'</a:t>
            </a:r>
          </a:p>
        </p:txBody>
      </p:sp>
      <p:sp>
        <p:nvSpPr>
          <p:cNvPr id="19" name="Donut 18"/>
          <p:cNvSpPr/>
          <p:nvPr/>
        </p:nvSpPr>
        <p:spPr>
          <a:xfrm>
            <a:off x="9052560" y="1440180"/>
            <a:ext cx="1600200" cy="1600200"/>
          </a:xfrm>
          <a:prstGeom prst="donut">
            <a:avLst>
              <a:gd name="adj" fmla="val 3500"/>
            </a:avLst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lock Arc 19"/>
          <p:cNvSpPr/>
          <p:nvPr/>
        </p:nvSpPr>
        <p:spPr>
          <a:xfrm>
            <a:off x="9052560" y="1440180"/>
            <a:ext cx="1600200" cy="1600200"/>
          </a:xfrm>
          <a:prstGeom prst="blockArc">
            <a:avLst>
              <a:gd name="adj1" fmla="val 16200000"/>
              <a:gd name="adj2" fmla="val 14040000"/>
              <a:gd name="adj3" fmla="val 3500"/>
            </a:avLst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1140" y="196596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222222"/>
                </a:solidFill>
                <a:latin typeface="Pretendard ExtraBold"/>
                <a:ea typeface="Pretendard ExtraBold"/>
                <a:cs typeface="Pretendard ExtraBold"/>
              </a:rPr>
              <a:t>90%+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852660" y="3113532"/>
            <a:ext cx="0" cy="310896"/>
          </a:xfrm>
          <a:prstGeom prst="line">
            <a:avLst/>
          </a:prstGeom>
          <a:ln w="12700">
            <a:solidFill>
              <a:srgbClr val="F26B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110728" y="3520440"/>
            <a:ext cx="348386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산업계 개발 비중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8" y="3886200"/>
            <a:ext cx="3483864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2025년 주요 프런티어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모델 중 산업계 개발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074920"/>
            <a:ext cx="960120" cy="566928"/>
          </a:xfrm>
          <a:prstGeom prst="roundRect">
            <a:avLst>
              <a:gd name="adj" fmla="val 15000"/>
            </a:avLst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1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Check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17320" y="5074920"/>
            <a:ext cx="10314432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5074920"/>
            <a:ext cx="996696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미·중 격차는 사실상 해소: 2026년 3월 기준 최상위 미국 모델의 우위는 2.7%에 불과합니다.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382512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출처: Stanford HAI, 2026 AI Index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960120" cy="274320"/>
          </a:xfrm>
          <a:prstGeom prst="roundRect">
            <a:avLst>
              <a:gd name="adj" fmla="val 25000"/>
            </a:avLst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301752"/>
            <a:ext cx="7863840" cy="4572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0000"/>
              </a:lnSpc>
            </a:pPr>
            <a:r>
              <a:rPr sz="2000" b="1" i="1">
                <a:solidFill>
                  <a:srgbClr val="222222"/>
                </a:solidFill>
                <a:latin typeface="Pretendard ExtraBold"/>
                <a:ea typeface="Pretendard ExtraBold"/>
                <a:cs typeface="Pretendard ExtraBold"/>
              </a:rPr>
              <a:t>조직 도입률 88%, 이제는 '확장'이 과제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555480" y="530352"/>
            <a:ext cx="731520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424160" y="393192"/>
            <a:ext cx="1307592" cy="274320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 ADOPTION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nut 6"/>
          <p:cNvSpPr/>
          <p:nvPr/>
        </p:nvSpPr>
        <p:spPr>
          <a:xfrm>
            <a:off x="1604772" y="1417320"/>
            <a:ext cx="1463040" cy="1463040"/>
          </a:xfrm>
          <a:prstGeom prst="donut">
            <a:avLst>
              <a:gd name="adj" fmla="val 12000"/>
            </a:avLst>
          </a:prstGeom>
          <a:solidFill>
            <a:srgbClr val="FDE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lock Arc 7"/>
          <p:cNvSpPr/>
          <p:nvPr/>
        </p:nvSpPr>
        <p:spPr>
          <a:xfrm>
            <a:off x="1604772" y="1417320"/>
            <a:ext cx="1463040" cy="1463040"/>
          </a:xfrm>
          <a:prstGeom prst="blockArc">
            <a:avLst>
              <a:gd name="adj1" fmla="val 16200000"/>
              <a:gd name="adj2" fmla="val 13607999"/>
              <a:gd name="adj3" fmla="val 12000"/>
            </a:avLst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7652" y="1892808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222222"/>
                </a:solidFill>
                <a:latin typeface="Pretendard ExtraBold"/>
                <a:ea typeface="Pretendard ExtraBold"/>
                <a:cs typeface="Pretendard ExtraBold"/>
              </a:rPr>
              <a:t>88%</a:t>
            </a:r>
          </a:p>
        </p:txBody>
      </p:sp>
      <p:sp>
        <p:nvSpPr>
          <p:cNvPr id="10" name="Isosceles Triangle 9"/>
          <p:cNvSpPr/>
          <p:nvPr/>
        </p:nvSpPr>
        <p:spPr>
          <a:xfrm rot="10800000">
            <a:off x="2217420" y="2990088"/>
            <a:ext cx="237744" cy="164592"/>
          </a:xfrm>
          <a:prstGeom prst="triangl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337560"/>
            <a:ext cx="348386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조직 AI 도입률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03320"/>
            <a:ext cx="3483864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2025년 기준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전년 78%에서 상승</a:t>
            </a:r>
          </a:p>
        </p:txBody>
      </p:sp>
      <p:sp>
        <p:nvSpPr>
          <p:cNvPr id="13" name="Donut 12"/>
          <p:cNvSpPr/>
          <p:nvPr/>
        </p:nvSpPr>
        <p:spPr>
          <a:xfrm>
            <a:off x="5362956" y="1417320"/>
            <a:ext cx="1463040" cy="1463040"/>
          </a:xfrm>
          <a:prstGeom prst="donut">
            <a:avLst>
              <a:gd name="adj" fmla="val 12000"/>
            </a:avLst>
          </a:prstGeom>
          <a:solidFill>
            <a:srgbClr val="FDE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lock Arc 13"/>
          <p:cNvSpPr/>
          <p:nvPr/>
        </p:nvSpPr>
        <p:spPr>
          <a:xfrm>
            <a:off x="5362956" y="1417320"/>
            <a:ext cx="1463040" cy="1463040"/>
          </a:xfrm>
          <a:prstGeom prst="blockArc">
            <a:avLst>
              <a:gd name="adj1" fmla="val 16200000"/>
              <a:gd name="adj2" fmla="val 6048000"/>
              <a:gd name="adj3" fmla="val 12000"/>
            </a:avLst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45836" y="1892808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222222"/>
                </a:solidFill>
                <a:latin typeface="Pretendard ExtraBold"/>
                <a:ea typeface="Pretendard ExtraBold"/>
                <a:cs typeface="Pretendard ExtraBold"/>
              </a:rPr>
              <a:t>53%</a:t>
            </a:r>
          </a:p>
        </p:txBody>
      </p:sp>
      <p:sp>
        <p:nvSpPr>
          <p:cNvPr id="16" name="Isosceles Triangle 15"/>
          <p:cNvSpPr/>
          <p:nvPr/>
        </p:nvSpPr>
        <p:spPr>
          <a:xfrm rot="10800000">
            <a:off x="5975604" y="2990088"/>
            <a:ext cx="237744" cy="164592"/>
          </a:xfrm>
          <a:prstGeom prst="triangl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2544" y="3337560"/>
            <a:ext cx="348386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3년 만의 인구 보급률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2544" y="3703320"/>
            <a:ext cx="3483864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PC·인터넷보다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빠른 확산 속도</a:t>
            </a:r>
          </a:p>
        </p:txBody>
      </p:sp>
      <p:sp>
        <p:nvSpPr>
          <p:cNvPr id="19" name="Donut 18"/>
          <p:cNvSpPr/>
          <p:nvPr/>
        </p:nvSpPr>
        <p:spPr>
          <a:xfrm>
            <a:off x="9121140" y="1417320"/>
            <a:ext cx="1463040" cy="1463040"/>
          </a:xfrm>
          <a:prstGeom prst="donut">
            <a:avLst>
              <a:gd name="adj" fmla="val 12000"/>
            </a:avLst>
          </a:prstGeom>
          <a:solidFill>
            <a:srgbClr val="FDE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lock Arc 19"/>
          <p:cNvSpPr/>
          <p:nvPr/>
        </p:nvSpPr>
        <p:spPr>
          <a:xfrm>
            <a:off x="9121140" y="1417320"/>
            <a:ext cx="1463040" cy="1463040"/>
          </a:xfrm>
          <a:prstGeom prst="blockArc">
            <a:avLst>
              <a:gd name="adj1" fmla="val 16200000"/>
              <a:gd name="adj2" fmla="val 7991999"/>
              <a:gd name="adj3" fmla="val 12000"/>
            </a:avLst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4020" y="1892808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222222"/>
                </a:solidFill>
                <a:latin typeface="Pretendard ExtraBold"/>
                <a:ea typeface="Pretendard ExtraBold"/>
                <a:cs typeface="Pretendard ExtraBold"/>
              </a:rPr>
              <a:t>62%</a:t>
            </a:r>
          </a:p>
        </p:txBody>
      </p:sp>
      <p:sp>
        <p:nvSpPr>
          <p:cNvPr id="22" name="Isosceles Triangle 21"/>
          <p:cNvSpPr/>
          <p:nvPr/>
        </p:nvSpPr>
        <p:spPr>
          <a:xfrm rot="10800000">
            <a:off x="9733788" y="2990088"/>
            <a:ext cx="237744" cy="164592"/>
          </a:xfrm>
          <a:prstGeom prst="triangl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0728" y="3337560"/>
            <a:ext cx="348386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AI 에이전트 실험 이상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8" y="3703320"/>
            <a:ext cx="3483864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그중 23%는 실제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확장 단계 진입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074920"/>
            <a:ext cx="960120" cy="566928"/>
          </a:xfrm>
          <a:prstGeom prst="roundRect">
            <a:avLst>
              <a:gd name="adj" fmla="val 15000"/>
            </a:avLst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1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Check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17320" y="5074920"/>
            <a:ext cx="10314432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5074920"/>
            <a:ext cx="996696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도입은 보편화됐지만 79%의 조직이 도입 과정의 어려움을 호소합니다(전년 대비 두 자릿수 증가).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382512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출처: Stanford HAI 2026 AI Index · Accelirate · WRITER · Info-Tech Research Group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960120" cy="274320"/>
          </a:xfrm>
          <a:prstGeom prst="roundRect">
            <a:avLst>
              <a:gd name="adj" fmla="val 25000"/>
            </a:avLst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301752"/>
            <a:ext cx="7863840" cy="4572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0000"/>
              </a:lnSpc>
            </a:pPr>
            <a:r>
              <a:rPr sz="2000" b="1" i="1">
                <a:solidFill>
                  <a:srgbClr val="222222"/>
                </a:solidFill>
                <a:latin typeface="Pretendard ExtraBold"/>
                <a:ea typeface="Pretendard ExtraBold"/>
                <a:cs typeface="Pretendard ExtraBold"/>
              </a:rPr>
              <a:t>투자와 전력, 성장의 새 병목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555480" y="530352"/>
            <a:ext cx="731520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424160" y="393192"/>
            <a:ext cx="1307592" cy="274320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 INFRA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D9480F"/>
                </a:solidFill>
                <a:latin typeface="Pretendard"/>
                <a:ea typeface="Pretendard"/>
                <a:cs typeface="Pretendard"/>
              </a:rPr>
              <a:t>AI 투자 규모 (2025, 달러)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전 세계 기업 투자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1755648"/>
            <a:ext cx="2194560" cy="16459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0" y="1755648"/>
            <a:ext cx="2194560" cy="164592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169164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5,817억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31720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미국 민간 투자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2395727"/>
            <a:ext cx="2194560" cy="16459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7400" y="2395727"/>
            <a:ext cx="1078605" cy="164592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233172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2,859억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71800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중국 민간 투자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400" y="3035808"/>
            <a:ext cx="2194560" cy="16459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57400" y="3035808"/>
            <a:ext cx="73152" cy="164592"/>
          </a:xfrm>
          <a:prstGeom prst="rect">
            <a:avLst/>
          </a:prstGeom>
          <a:solidFill>
            <a:srgbClr val="E83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29718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124억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57800" y="2478024"/>
            <a:ext cx="109728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67528" y="2478024"/>
            <a:ext cx="0" cy="64008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257800" y="3118104"/>
            <a:ext cx="109728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58968" y="266090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D9480F"/>
                </a:solidFill>
                <a:latin typeface="Pretendard"/>
                <a:ea typeface="Pretendard"/>
                <a:cs typeface="Pretendard"/>
              </a:rPr>
              <a:t>23배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03320"/>
            <a:ext cx="53035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빅테크 설비투자는 2025년 4,000억 달러를 넘었고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2026년에 75% 더 늘어날 전망입니다.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9048" y="1188720"/>
            <a:ext cx="0" cy="324612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0" y="11430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D9480F"/>
                </a:solidFill>
                <a:latin typeface="Pretendard"/>
                <a:ea typeface="Pretendard"/>
                <a:cs typeface="Pretendard"/>
              </a:rPr>
              <a:t>데이터센터 전력 사용량 (TWh, 2030E는 전망)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6400800" y="1554480"/>
          <a:ext cx="3108960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9692640" y="1874519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F26B1D"/>
                </a:solidFill>
                <a:latin typeface="Pretendard ExtraBold"/>
                <a:ea typeface="Pretendard ExtraBold"/>
                <a:cs typeface="Pretendard ExtraBold"/>
              </a:rPr>
              <a:t>약 2배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377440"/>
            <a:ext cx="20574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AI 특화 데이터센터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수요 +50% (2025)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전 세계 전력 수요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+3%와 대비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074920"/>
            <a:ext cx="960120" cy="566928"/>
          </a:xfrm>
          <a:prstGeom prst="roundRect">
            <a:avLst>
              <a:gd name="adj" fmla="val 15000"/>
            </a:avLst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1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Check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17320" y="5074920"/>
            <a:ext cx="10314432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0" y="5074920"/>
            <a:ext cx="996696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칩(TSMC 집중)·전력·데이터센터가 AI 성장 속도를 좌우하는 전략 자산이 되고 있습니다.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382512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출처: Stanford HAI 2026 AI Index · IEA, Energy and AI · Hostinger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960120" cy="274320"/>
          </a:xfrm>
          <a:prstGeom prst="roundRect">
            <a:avLst>
              <a:gd name="adj" fmla="val 25000"/>
            </a:avLst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301752"/>
            <a:ext cx="7863840" cy="4572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0000"/>
              </a:lnSpc>
            </a:pPr>
            <a:r>
              <a:rPr sz="2000" b="1" i="1">
                <a:solidFill>
                  <a:srgbClr val="222222"/>
                </a:solidFill>
                <a:latin typeface="Pretendard ExtraBold"/>
                <a:ea typeface="Pretendard ExtraBold"/>
                <a:cs typeface="Pretendard ExtraBold"/>
              </a:rPr>
              <a:t>일자리는 순증, 인식은 50%p 격차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555480" y="530352"/>
            <a:ext cx="731520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424160" y="393192"/>
            <a:ext cx="1307592" cy="274320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05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D9480F"/>
                </a:solidFill>
                <a:latin typeface="Pretendard"/>
                <a:ea typeface="Pretendard"/>
                <a:cs typeface="Pretendard"/>
              </a:rPr>
              <a:t>2030년까지 일자리 변화 (WEF)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새로 생김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1755648"/>
            <a:ext cx="2743200" cy="16459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45920" y="1755648"/>
            <a:ext cx="2743200" cy="164592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69164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1억 7천만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3172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대체됨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2395727"/>
            <a:ext cx="2743200" cy="16459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45920" y="2395727"/>
            <a:ext cx="1484555" cy="164592"/>
          </a:xfrm>
          <a:prstGeom prst="rect">
            <a:avLst/>
          </a:prstGeom>
          <a:solidFill>
            <a:srgbClr val="E83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233172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9,200만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089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222222"/>
                </a:solidFill>
                <a:latin typeface="Pretendard ExtraBold"/>
                <a:ea typeface="Pretendard ExtraBold"/>
                <a:cs typeface="Pretendard ExtraBold"/>
              </a:rPr>
              <a:t>순증 7,800만 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9048" y="1188720"/>
            <a:ext cx="0" cy="324612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0" y="11430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D9480F"/>
                </a:solidFill>
                <a:latin typeface="Pretendard"/>
                <a:ea typeface="Pretendard"/>
                <a:cs typeface="Pretendard"/>
              </a:rPr>
              <a:t>AI가 일자리에 긍정적이라는 응답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69164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전문가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1755648"/>
            <a:ext cx="3017520" cy="16459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0" y="1755648"/>
            <a:ext cx="2202789" cy="164592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42448" y="169164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73%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33172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일반 대중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2395727"/>
            <a:ext cx="3017520" cy="16459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2395727"/>
            <a:ext cx="694029" cy="164592"/>
          </a:xfrm>
          <a:prstGeom prst="rect">
            <a:avLst/>
          </a:prstGeom>
          <a:solidFill>
            <a:srgbClr val="E83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42448" y="233172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1089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222222"/>
                </a:solidFill>
                <a:latin typeface="Pretendard ExtraBold"/>
                <a:ea typeface="Pretendard ExtraBold"/>
                <a:cs typeface="Pretendard ExtraBold"/>
              </a:rPr>
              <a:t>50%p 격차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AI 스킬을 요구하는 미국 채용공고는 전체의 2.5%로, 1년 새 55% 늘었습니다.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074920"/>
            <a:ext cx="960120" cy="566928"/>
          </a:xfrm>
          <a:prstGeom prst="roundRect">
            <a:avLst>
              <a:gd name="adj" fmla="val 15000"/>
            </a:avLst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1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Check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17320" y="5074920"/>
            <a:ext cx="10314432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5920" y="5074920"/>
            <a:ext cx="996696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WEF 수치는 AI만이 아닌 노동시장 전체 변화입니다. 재교육 없이는 새 일자리로 옮겨가기 어렵습니다.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382512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출처: WEF Future of Jobs Report 2025 (AI Magazine) · Stanford HAI 2026 AI Index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960120" cy="274320"/>
          </a:xfrm>
          <a:prstGeom prst="roundRect">
            <a:avLst>
              <a:gd name="adj" fmla="val 25000"/>
            </a:avLst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301752"/>
            <a:ext cx="7863840" cy="4572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0000"/>
              </a:lnSpc>
            </a:pPr>
            <a:r>
              <a:rPr sz="2000" b="1" i="1">
                <a:solidFill>
                  <a:srgbClr val="222222"/>
                </a:solidFill>
                <a:latin typeface="Pretendard ExtraBold"/>
                <a:ea typeface="Pretendard ExtraBold"/>
                <a:cs typeface="Pretendard ExtraBold"/>
              </a:rPr>
              <a:t>2026년, EU와 한국 AI 법이 함께 적용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555480" y="530352"/>
            <a:ext cx="731520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424160" y="393192"/>
            <a:ext cx="1307592" cy="274320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06 REGULATION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188720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EU AI 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188720"/>
            <a:ext cx="437083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한국 AI 기본법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1755648"/>
            <a:ext cx="11274552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57200" y="1755648"/>
            <a:ext cx="11274552" cy="566928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55648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시행 시점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755648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범용 AI 2025.8 · 대부분 2026.8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1755648"/>
            <a:ext cx="437083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2026.1.22 (EU 다음 두 번째)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2322576"/>
            <a:ext cx="11274552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2322576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핵심 의무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322576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기술 문서 · 학습데이터 요약 · 저작권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322576"/>
            <a:ext cx="437083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투명성(AI 생성물 표시) · 고영향 AI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2889504"/>
            <a:ext cx="11274552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2889504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제재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889504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최대 1,500만 유로 또는 매출 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889504"/>
            <a:ext cx="437083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과태료 최소 1년 계도기간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7200" y="3456432"/>
            <a:ext cx="11274552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3456432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성격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3456432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위험 기반 규제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3456432"/>
            <a:ext cx="437083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진흥 우선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" y="4023360"/>
            <a:ext cx="11274552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57200" y="5074920"/>
            <a:ext cx="960120" cy="566928"/>
          </a:xfrm>
          <a:prstGeom prst="roundRect">
            <a:avLst>
              <a:gd name="adj" fmla="val 15000"/>
            </a:avLst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1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Check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17320" y="5074920"/>
            <a:ext cx="10314432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5920" y="5074920"/>
            <a:ext cx="996696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문서화된 AI 사고는 233건(2024)에서 362건(2025)으로 늘었고, 규제는 원칙에서 집행 단계로 넘어갑니다.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82512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출처: artificialintelligenceact.eu · European Commission · 법무법인 세종(Shin &amp; Kim) · Law.asia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960120" cy="274320"/>
          </a:xfrm>
          <a:prstGeom prst="roundRect">
            <a:avLst>
              <a:gd name="adj" fmla="val 25000"/>
            </a:avLst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301752"/>
            <a:ext cx="7863840" cy="4572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0000"/>
              </a:lnSpc>
            </a:pPr>
            <a:r>
              <a:rPr sz="2000" b="1" i="1">
                <a:solidFill>
                  <a:srgbClr val="222222"/>
                </a:solidFill>
                <a:latin typeface="Pretendard ExtraBold"/>
                <a:ea typeface="Pretendard ExtraBold"/>
                <a:cs typeface="Pretendard ExtraBold"/>
              </a:rPr>
              <a:t>앞으로의 4가지 흐름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555480" y="530352"/>
            <a:ext cx="731520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424160" y="393192"/>
            <a:ext cx="1307592" cy="274320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07 OUTLOOK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40680" cy="1463040"/>
          </a:xfrm>
          <a:prstGeom prst="rect">
            <a:avLst/>
          </a:prstGeom>
          <a:noFill/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73152" cy="146304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600" b="1" i="1">
                <a:solidFill>
                  <a:srgbClr val="F26B1D"/>
                </a:solidFill>
                <a:latin typeface="Pretendard ExtraBold"/>
                <a:ea typeface="Pretendard ExtraBold"/>
                <a:cs typeface="Pretendard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463040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모델에서 시스템으로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38528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계획하고 도구를 쓰는 에이전트로 가치 이동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1188720"/>
            <a:ext cx="5440680" cy="1463040"/>
          </a:xfrm>
          <a:prstGeom prst="rect">
            <a:avLst/>
          </a:prstGeom>
          <a:noFill/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188720"/>
            <a:ext cx="73152" cy="146304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44475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600" b="1" i="1">
                <a:solidFill>
                  <a:srgbClr val="F26B1D"/>
                </a:solidFill>
                <a:latin typeface="Pretendard ExtraBold"/>
                <a:ea typeface="Pretendard ExtraBold"/>
                <a:cs typeface="Pretendard Extra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1463040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과학을 위한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1938528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생물·소재·수학 분야의 AI 주도 발견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26080"/>
            <a:ext cx="5440680" cy="1463040"/>
          </a:xfrm>
          <a:prstGeom prst="rect">
            <a:avLst/>
          </a:prstGeom>
          <a:noFill/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926080"/>
            <a:ext cx="73152" cy="146304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18211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600" b="1" i="1">
                <a:solidFill>
                  <a:srgbClr val="F26B1D"/>
                </a:solidFill>
                <a:latin typeface="Pretendard ExtraBold"/>
                <a:ea typeface="Pretendard ExtraBold"/>
                <a:cs typeface="Pretendard ExtraBol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200400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컴퓨팅·에너지 = 전략 자산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675888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전력·칩·데이터센터가 성장 속도를 제한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2926080"/>
            <a:ext cx="5440680" cy="1463040"/>
          </a:xfrm>
          <a:prstGeom prst="rect">
            <a:avLst/>
          </a:prstGeom>
          <a:noFill/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91072" y="2926080"/>
            <a:ext cx="73152" cy="146304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11112" y="318211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600" b="1" i="1">
                <a:solidFill>
                  <a:srgbClr val="F26B1D"/>
                </a:solidFill>
                <a:latin typeface="Pretendard ExtraBold"/>
                <a:ea typeface="Pretendard ExtraBold"/>
                <a:cs typeface="Pretendard ExtraBol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3200400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거버넌스와 재교육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12" y="3675888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규제는 집행 단계로, 일은 재설계 중심으로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74920"/>
            <a:ext cx="960120" cy="566928"/>
          </a:xfrm>
          <a:prstGeom prst="roundRect">
            <a:avLst>
              <a:gd name="adj" fmla="val 15000"/>
            </a:avLst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1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Check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17320" y="5074920"/>
            <a:ext cx="10314432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0" y="5074920"/>
            <a:ext cx="996696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능력은 빠르지만 고르지 않게, 도입은 넓지만 확장은 어렵게 — 2026년은 규제가 실제로 작동하는 첫 해입니다.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382512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출처: research/ai_development_research_v2.md §8–9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발전, 지금 어디까지 왔나</dc:title>
  <dc:subject/>
  <dc:creator>춘식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